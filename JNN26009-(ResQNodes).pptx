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E0FBAD-A99A-46C7-ADBF-B6415865340F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77A50-91DD-4848-86B1-DE7ED7E733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8590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77A50-91DD-4848-86B1-DE7ED7E733D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198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376421"/>
            <a:ext cx="12189714" cy="47928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6354762"/>
            <a:ext cx="12192000" cy="503555"/>
          </a:xfrm>
          <a:custGeom>
            <a:avLst/>
            <a:gdLst/>
            <a:ahLst/>
            <a:cxnLst/>
            <a:rect l="l" t="t" r="r" b="b"/>
            <a:pathLst>
              <a:path w="12192000" h="503554">
                <a:moveTo>
                  <a:pt x="12192000" y="0"/>
                </a:moveTo>
                <a:lnTo>
                  <a:pt x="0" y="0"/>
                </a:lnTo>
                <a:lnTo>
                  <a:pt x="0" y="503237"/>
                </a:lnTo>
                <a:lnTo>
                  <a:pt x="12192000" y="503237"/>
                </a:lnTo>
                <a:lnTo>
                  <a:pt x="121920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85948" y="315595"/>
            <a:ext cx="6579234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2557729"/>
            <a:ext cx="9227820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83607" y="6464680"/>
            <a:ext cx="2533015" cy="361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75770" y="6464680"/>
            <a:ext cx="166370" cy="1784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06325749_An_Indoor_Positioning_Algorithm_using_Bluetooth_Low_Energy_RSSI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www.researchgate.net/publication/259162446_A_Novel_Wireless_Sensor_Network_Architecture_for_Crowd_Disaster_Mitig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dpi.com/2076-3417/11/13/6107" TargetMode="External"/><Relationship Id="rId5" Type="http://schemas.openxmlformats.org/officeDocument/2006/relationships/hyperlink" Target="https://arxiv.org/pdf/1909.10353" TargetMode="External"/><Relationship Id="rId4" Type="http://schemas.openxmlformats.org/officeDocument/2006/relationships/hyperlink" Target="https://pmc.ncbi.nlm.nih.gov/articles/PMC575070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9600" y="1371600"/>
            <a:ext cx="10715143" cy="43300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20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spc="-25" dirty="0">
                <a:latin typeface="Arial"/>
                <a:cs typeface="Arial"/>
              </a:rPr>
              <a:t>ID-</a:t>
            </a:r>
            <a:r>
              <a:rPr lang="en-US" sz="2400" dirty="0"/>
              <a:t>JNN26009 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Problem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Statement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Title-</a:t>
            </a:r>
            <a:r>
              <a:rPr lang="en-US" sz="2400" b="1" spc="-10" dirty="0">
                <a:latin typeface="Arial"/>
                <a:cs typeface="Arial"/>
              </a:rPr>
              <a:t> </a:t>
            </a:r>
            <a:r>
              <a:rPr lang="en-IN" sz="2500" b="1" spc="-10" dirty="0" err="1">
                <a:latin typeface="Arial"/>
                <a:cs typeface="Arial"/>
              </a:rPr>
              <a:t>CrowdShield</a:t>
            </a:r>
            <a:r>
              <a:rPr lang="en-IN" sz="2500" b="1" spc="-10" dirty="0">
                <a:latin typeface="Arial"/>
                <a:cs typeface="Arial"/>
              </a:rPr>
              <a:t> </a:t>
            </a:r>
            <a:r>
              <a:rPr lang="en-IN" sz="2500" i="1" spc="-10" dirty="0">
                <a:latin typeface="Arial"/>
                <a:cs typeface="Arial"/>
              </a:rPr>
              <a:t>(</a:t>
            </a:r>
            <a:r>
              <a:rPr lang="en-US" sz="2500" i="1" dirty="0"/>
              <a:t>Smart Safety Wristband for Crowd Emergencies)</a:t>
            </a:r>
            <a:endParaRPr sz="2500" i="1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spc="-10" dirty="0">
                <a:latin typeface="Arial"/>
                <a:cs typeface="Arial"/>
              </a:rPr>
              <a:t>Theme-</a:t>
            </a:r>
            <a:r>
              <a:rPr lang="en-US" sz="2400" b="1" spc="-10" dirty="0">
                <a:latin typeface="Arial"/>
                <a:cs typeface="Arial"/>
              </a:rPr>
              <a:t> </a:t>
            </a:r>
            <a:r>
              <a:rPr lang="en-US" sz="2200" dirty="0"/>
              <a:t>IoT-Based Emergency Response System for Large Public Events.</a:t>
            </a: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buFont typeface="Arial MT"/>
              <a:buChar char="•"/>
              <a:tabLst>
                <a:tab pos="299085" algn="l"/>
              </a:tabLst>
            </a:pPr>
            <a:r>
              <a:rPr sz="2400" b="1" dirty="0">
                <a:latin typeface="Arial"/>
                <a:cs typeface="Arial"/>
              </a:rPr>
              <a:t>PS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Category-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lang="en-IN" sz="2400" b="1" dirty="0"/>
              <a:t>Hardware + Software </a:t>
            </a:r>
            <a:r>
              <a:rPr lang="en-IN" sz="2200" dirty="0"/>
              <a:t>(IoT Based System)</a:t>
            </a:r>
            <a:endParaRPr sz="2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Char char="•"/>
            </a:pPr>
            <a:endParaRPr sz="2400" dirty="0">
              <a:latin typeface="Arial"/>
              <a:cs typeface="Arial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2400" b="1" spc="-35" dirty="0">
                <a:latin typeface="Arial"/>
                <a:cs typeface="Arial"/>
              </a:rPr>
              <a:t>Team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Name-</a:t>
            </a:r>
            <a:r>
              <a:rPr lang="en-US" sz="2400" b="1" spc="-20" dirty="0">
                <a:latin typeface="Arial"/>
                <a:cs typeface="Arial"/>
              </a:rPr>
              <a:t> </a:t>
            </a:r>
            <a:r>
              <a:rPr lang="en-US" sz="2400" b="1" spc="-20" dirty="0" err="1">
                <a:latin typeface="Arial"/>
                <a:cs typeface="Arial"/>
              </a:rPr>
              <a:t>ResQNodes</a:t>
            </a:r>
            <a:endParaRPr sz="2400" b="1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97504" y="152780"/>
            <a:ext cx="63506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75" dirty="0">
                <a:solidFill>
                  <a:srgbClr val="17375E"/>
                </a:solidFill>
              </a:rPr>
              <a:t>J.N.N</a:t>
            </a:r>
            <a:r>
              <a:rPr sz="4000" spc="15" dirty="0">
                <a:solidFill>
                  <a:srgbClr val="17375E"/>
                </a:solidFill>
              </a:rPr>
              <a:t> </a:t>
            </a:r>
            <a:r>
              <a:rPr sz="4000" spc="105" dirty="0">
                <a:solidFill>
                  <a:srgbClr val="17375E"/>
                </a:solidFill>
              </a:rPr>
              <a:t>INNOVOTHAN</a:t>
            </a:r>
            <a:r>
              <a:rPr sz="4000" spc="20" dirty="0">
                <a:solidFill>
                  <a:srgbClr val="17375E"/>
                </a:solidFill>
              </a:rPr>
              <a:t> </a:t>
            </a:r>
            <a:r>
              <a:rPr sz="4000" spc="-130" dirty="0">
                <a:solidFill>
                  <a:srgbClr val="17375E"/>
                </a:solidFill>
              </a:rPr>
              <a:t>2K26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344" y="303082"/>
            <a:ext cx="2101339" cy="5662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4926" y="255825"/>
            <a:ext cx="2552117" cy="487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5948" y="315595"/>
            <a:ext cx="657923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7193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CrowdShield</a:t>
            </a:r>
            <a:endParaRPr sz="4000" spc="-1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7487" y="1261943"/>
            <a:ext cx="11757025" cy="150874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4650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sz="28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sz="2800" b="1" u="sng" spc="-6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sz="2800" b="1" u="sng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  <a:r>
              <a:rPr sz="2800" b="1" u="sng" spc="-65" dirty="0">
                <a:solidFill>
                  <a:srgbClr val="1F487C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3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endParaRPr sz="2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768" y="252222"/>
            <a:ext cx="2362835" cy="622606"/>
          </a:xfrm>
          <a:prstGeom prst="rect">
            <a:avLst/>
          </a:prstGeom>
          <a:ln w="25400">
            <a:solidFill>
              <a:srgbClr val="8063A1"/>
            </a:solidFill>
          </a:ln>
        </p:spPr>
        <p:txBody>
          <a:bodyPr vert="horz" wrap="square" lIns="0" tIns="250825" rIns="0" bIns="0" rtlCol="0">
            <a:spAutoFit/>
          </a:bodyPr>
          <a:lstStyle/>
          <a:p>
            <a:pPr marL="394970" algn="l">
              <a:lnSpc>
                <a:spcPct val="100000"/>
              </a:lnSpc>
              <a:spcBef>
                <a:spcPts val="1975"/>
              </a:spcBef>
            </a:pPr>
            <a:r>
              <a:rPr lang="en-US" sz="2400" b="1" dirty="0">
                <a:latin typeface="Calibri"/>
                <a:cs typeface="Calibri"/>
              </a:rPr>
              <a:t> </a:t>
            </a:r>
            <a:r>
              <a:rPr lang="en-US" sz="2400" b="1" dirty="0" err="1">
                <a:latin typeface="Calibri"/>
                <a:cs typeface="Calibri"/>
              </a:rPr>
              <a:t>ResQNodes</a:t>
            </a:r>
            <a:endParaRPr sz="2400" b="1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4926" y="255825"/>
            <a:ext cx="2552117" cy="4873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CFCD51-6D4D-1C09-EAC5-0C6CE34EB691}"/>
              </a:ext>
            </a:extLst>
          </p:cNvPr>
          <p:cNvSpPr/>
          <p:nvPr/>
        </p:nvSpPr>
        <p:spPr>
          <a:xfrm>
            <a:off x="504138" y="2029912"/>
            <a:ext cx="3200400" cy="4114800"/>
          </a:xfrm>
          <a:prstGeom prst="rect">
            <a:avLst/>
          </a:prstGeom>
          <a:solidFill>
            <a:schemeClr val="accent4">
              <a:lumMod val="75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CrowdShield – </a:t>
            </a:r>
          </a:p>
          <a:p>
            <a:pPr algn="l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Smart Emergency Wristband</a:t>
            </a:r>
          </a:p>
          <a:p>
            <a:pPr algn="l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Proposed Solution:</a:t>
            </a:r>
          </a:p>
          <a:p>
            <a:pPr algn="l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• </a:t>
            </a:r>
            <a:r>
              <a:rPr lang="en-US" sz="2000" b="1" dirty="0">
                <a:solidFill>
                  <a:schemeClr val="bg2">
                    <a:lumMod val="10000"/>
                  </a:schemeClr>
                </a:solidFill>
              </a:rPr>
              <a:t>SOS emergency button</a:t>
            </a: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 on wearable wristband.</a:t>
            </a:r>
          </a:p>
          <a:p>
            <a:pPr algn="l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• Works in two modes</a:t>
            </a:r>
          </a:p>
          <a:p>
            <a:pPr algn="l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Online Mode (GPS through phone)</a:t>
            </a:r>
          </a:p>
          <a:p>
            <a:pPr algn="l"/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Offline Mode (BLE Mesh network)</a:t>
            </a:r>
          </a:p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46BA3A-57CC-B7A4-AE9C-E9951393A095}"/>
              </a:ext>
            </a:extLst>
          </p:cNvPr>
          <p:cNvSpPr/>
          <p:nvPr/>
        </p:nvSpPr>
        <p:spPr>
          <a:xfrm>
            <a:off x="4400224" y="2029912"/>
            <a:ext cx="3294597" cy="4114800"/>
          </a:xfrm>
          <a:prstGeom prst="rect">
            <a:avLst/>
          </a:prstGeom>
          <a:solidFill>
            <a:schemeClr val="accent4">
              <a:lumMod val="75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900" b="1" dirty="0">
                <a:solidFill>
                  <a:schemeClr val="bg2">
                    <a:lumMod val="10000"/>
                  </a:schemeClr>
                </a:solidFill>
              </a:rPr>
              <a:t>How the System Works?</a:t>
            </a:r>
          </a:p>
          <a:p>
            <a:pPr algn="ctr"/>
            <a:endParaRPr lang="en-IN" sz="1900" b="1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IN" sz="1900" b="1" i="1" u="sng" dirty="0">
                <a:solidFill>
                  <a:schemeClr val="bg2">
                    <a:lumMod val="10000"/>
                  </a:schemeClr>
                </a:solidFill>
              </a:rPr>
              <a:t>Online Mode:</a:t>
            </a:r>
          </a:p>
          <a:p>
            <a:pPr algn="ctr"/>
            <a:endParaRPr lang="en-IN" sz="1900" b="1" i="1" u="sng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IN" sz="1900" i="1" dirty="0">
                <a:solidFill>
                  <a:schemeClr val="bg2">
                    <a:lumMod val="10000"/>
                  </a:schemeClr>
                </a:solidFill>
              </a:rPr>
              <a:t>Wristband </a:t>
            </a:r>
            <a:r>
              <a:rPr lang="en-IN" sz="1900" dirty="0">
                <a:solidFill>
                  <a:schemeClr val="bg2">
                    <a:lumMod val="10000"/>
                  </a:schemeClr>
                </a:solidFill>
              </a:rPr>
              <a:t>→</a:t>
            </a:r>
            <a:r>
              <a:rPr lang="en-IN" sz="1900" i="1" dirty="0">
                <a:solidFill>
                  <a:schemeClr val="bg2">
                    <a:lumMod val="10000"/>
                  </a:schemeClr>
                </a:solidFill>
              </a:rPr>
              <a:t>Phone Application</a:t>
            </a:r>
            <a:r>
              <a:rPr lang="en-IN" sz="1900" dirty="0">
                <a:solidFill>
                  <a:schemeClr val="bg2">
                    <a:lumMod val="10000"/>
                  </a:schemeClr>
                </a:solidFill>
              </a:rPr>
              <a:t>→</a:t>
            </a:r>
            <a:r>
              <a:rPr lang="en-IN" sz="1900" i="1" dirty="0">
                <a:solidFill>
                  <a:schemeClr val="bg2">
                    <a:lumMod val="10000"/>
                  </a:schemeClr>
                </a:solidFill>
              </a:rPr>
              <a:t> Cloud Server </a:t>
            </a:r>
            <a:r>
              <a:rPr lang="en-IN" sz="1900" dirty="0">
                <a:solidFill>
                  <a:schemeClr val="bg2">
                    <a:lumMod val="10000"/>
                  </a:schemeClr>
                </a:solidFill>
              </a:rPr>
              <a:t>→</a:t>
            </a:r>
            <a:endParaRPr lang="en-IN" sz="1900" i="1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IN" sz="1900" i="1" dirty="0">
                <a:solidFill>
                  <a:schemeClr val="bg2">
                    <a:lumMod val="10000"/>
                  </a:schemeClr>
                </a:solidFill>
              </a:rPr>
              <a:t>Security Dashboard </a:t>
            </a:r>
          </a:p>
          <a:p>
            <a:pPr algn="ctr"/>
            <a:endParaRPr lang="en-IN" sz="1900" i="1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IN" sz="1900" b="1" i="1" u="sng" dirty="0">
                <a:solidFill>
                  <a:schemeClr val="bg2">
                    <a:lumMod val="10000"/>
                  </a:schemeClr>
                </a:solidFill>
              </a:rPr>
              <a:t>Offline Mode:</a:t>
            </a:r>
          </a:p>
          <a:p>
            <a:pPr algn="ctr"/>
            <a:endParaRPr lang="en-IN" sz="1900" b="1" i="1" u="sng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IN" sz="1900" dirty="0">
                <a:solidFill>
                  <a:schemeClr val="bg2">
                    <a:lumMod val="10000"/>
                  </a:schemeClr>
                </a:solidFill>
              </a:rPr>
              <a:t>Wristband → BLE Mesh → Receivers → Dashboard</a:t>
            </a:r>
          </a:p>
          <a:p>
            <a:pPr algn="ctr"/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010E25-6798-AC4B-01AF-923C99CD980E}"/>
              </a:ext>
            </a:extLst>
          </p:cNvPr>
          <p:cNvSpPr/>
          <p:nvPr/>
        </p:nvSpPr>
        <p:spPr>
          <a:xfrm>
            <a:off x="8341740" y="2029912"/>
            <a:ext cx="3200400" cy="4114800"/>
          </a:xfrm>
          <a:prstGeom prst="rect">
            <a:avLst/>
          </a:prstGeom>
          <a:solidFill>
            <a:schemeClr val="accent4">
              <a:lumMod val="75000"/>
              <a:alpha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9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sz="1900" b="1" dirty="0">
                <a:solidFill>
                  <a:schemeClr val="bg2">
                    <a:lumMod val="10000"/>
                  </a:schemeClr>
                </a:solidFill>
              </a:rPr>
              <a:t>Key Features:</a:t>
            </a:r>
          </a:p>
          <a:p>
            <a:pPr lvl="1" algn="l"/>
            <a:r>
              <a:rPr lang="en-US" sz="1900" dirty="0">
                <a:solidFill>
                  <a:schemeClr val="bg2">
                    <a:lumMod val="10000"/>
                  </a:schemeClr>
                </a:solidFill>
              </a:rPr>
              <a:t>• Instant SOS alert</a:t>
            </a:r>
          </a:p>
          <a:p>
            <a:pPr lvl="1" algn="l"/>
            <a:r>
              <a:rPr lang="en-US" sz="1900" dirty="0">
                <a:solidFill>
                  <a:schemeClr val="bg2">
                    <a:lumMod val="10000"/>
                  </a:schemeClr>
                </a:solidFill>
              </a:rPr>
              <a:t>• Live location tracking</a:t>
            </a:r>
          </a:p>
          <a:p>
            <a:pPr lvl="1" algn="l"/>
            <a:r>
              <a:rPr lang="en-US" sz="1900" dirty="0">
                <a:solidFill>
                  <a:schemeClr val="bg2">
                    <a:lumMod val="10000"/>
                  </a:schemeClr>
                </a:solidFill>
              </a:rPr>
              <a:t>• Works even without internet</a:t>
            </a:r>
          </a:p>
          <a:p>
            <a:pPr lvl="1" algn="l"/>
            <a:r>
              <a:rPr lang="en-US" sz="1900" dirty="0">
                <a:solidFill>
                  <a:schemeClr val="bg2">
                    <a:lumMod val="10000"/>
                  </a:schemeClr>
                </a:solidFill>
              </a:rPr>
              <a:t>• Low-cost wearable device</a:t>
            </a:r>
          </a:p>
          <a:p>
            <a:pPr lvl="1" algn="l"/>
            <a:r>
              <a:rPr lang="en-US" sz="1900" dirty="0">
                <a:solidFill>
                  <a:schemeClr val="bg2">
                    <a:lumMod val="10000"/>
                  </a:schemeClr>
                </a:solidFill>
              </a:rPr>
              <a:t>• Scalable for large events</a:t>
            </a:r>
            <a:endParaRPr lang="en-US" sz="1100" dirty="0">
              <a:solidFill>
                <a:schemeClr val="bg2">
                  <a:lumMod val="10000"/>
                </a:schemeClr>
              </a:solidFill>
            </a:endParaRPr>
          </a:p>
          <a:p>
            <a:pPr algn="ctr"/>
            <a:r>
              <a:rPr lang="en-US" sz="1900" b="1" dirty="0">
                <a:solidFill>
                  <a:schemeClr val="bg2">
                    <a:lumMod val="10000"/>
                  </a:schemeClr>
                </a:solidFill>
              </a:rPr>
              <a:t>Innovation:</a:t>
            </a:r>
          </a:p>
          <a:p>
            <a:pPr lvl="1" algn="l"/>
            <a:r>
              <a:rPr lang="en-US" sz="1900" dirty="0">
                <a:solidFill>
                  <a:schemeClr val="bg2">
                    <a:lumMod val="10000"/>
                  </a:schemeClr>
                </a:solidFill>
              </a:rPr>
              <a:t>• Dual-mode emergency system</a:t>
            </a:r>
          </a:p>
          <a:p>
            <a:pPr lvl="1" algn="l"/>
            <a:r>
              <a:rPr lang="en-US" sz="1900" dirty="0">
                <a:solidFill>
                  <a:schemeClr val="bg2">
                    <a:lumMod val="10000"/>
                  </a:schemeClr>
                </a:solidFill>
              </a:rPr>
              <a:t>• IoT + mesh networking + mobile app integrated</a:t>
            </a:r>
          </a:p>
          <a:p>
            <a:pPr lvl="1" algn="l"/>
            <a:r>
              <a:rPr lang="en-US" sz="1900" dirty="0">
                <a:solidFill>
                  <a:schemeClr val="bg2">
                    <a:lumMod val="10000"/>
                  </a:schemeClr>
                </a:solidFill>
              </a:rPr>
              <a:t>• Customized specifically for crowd safety scenarios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1850" y="221437"/>
            <a:ext cx="54514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TECHNICAL</a:t>
            </a:r>
            <a:r>
              <a:rPr spc="-409" dirty="0"/>
              <a:t> </a:t>
            </a:r>
            <a:r>
              <a:rPr spc="-10" dirty="0"/>
              <a:t>APPROACH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3400" y="1539059"/>
            <a:ext cx="3810000" cy="48878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1800" b="1" dirty="0">
                <a:solidFill>
                  <a:schemeClr val="bg2">
                    <a:lumMod val="10000"/>
                  </a:schemeClr>
                </a:solidFill>
              </a:rPr>
              <a:t>Technologies Used:</a:t>
            </a:r>
          </a:p>
          <a:p>
            <a:endParaRPr lang="en-IN" sz="1800" b="1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1800" b="1" dirty="0">
                <a:solidFill>
                  <a:schemeClr val="bg2">
                    <a:lumMod val="10000"/>
                  </a:schemeClr>
                </a:solidFill>
              </a:rPr>
              <a:t>Hardware</a:t>
            </a:r>
          </a:p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• ESP32-C3 microcontroller</a:t>
            </a:r>
            <a:br>
              <a:rPr lang="en-IN" sz="18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• BLE (Bluetooth Low Energy)</a:t>
            </a:r>
            <a:br>
              <a:rPr lang="en-IN" sz="18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• Push button SOS trigger</a:t>
            </a:r>
            <a:br>
              <a:rPr lang="en-IN" sz="18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• LED indicator</a:t>
            </a:r>
          </a:p>
          <a:p>
            <a:endParaRPr lang="en-IN" sz="18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1800" b="1" dirty="0">
                <a:solidFill>
                  <a:schemeClr val="bg2">
                    <a:lumMod val="10000"/>
                  </a:schemeClr>
                </a:solidFill>
              </a:rPr>
              <a:t>Software</a:t>
            </a:r>
          </a:p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• Web Application</a:t>
            </a:r>
            <a:br>
              <a:rPr lang="en-IN" sz="18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• Backend server using </a:t>
            </a:r>
            <a:r>
              <a:rPr lang="en-IN" sz="1800" b="1" dirty="0">
                <a:solidFill>
                  <a:schemeClr val="bg2">
                    <a:lumMod val="10000"/>
                  </a:schemeClr>
                </a:solidFill>
              </a:rPr>
              <a:t>Node.js</a:t>
            </a:r>
            <a:br>
              <a:rPr lang="en-IN" sz="1800" dirty="0">
                <a:solidFill>
                  <a:schemeClr val="bg2">
                    <a:lumMod val="10000"/>
                  </a:schemeClr>
                </a:solidFill>
              </a:rPr>
            </a:br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• Database using </a:t>
            </a:r>
            <a:r>
              <a:rPr lang="en-IN" sz="1800" b="1" dirty="0">
                <a:solidFill>
                  <a:schemeClr val="bg2">
                    <a:lumMod val="10000"/>
                  </a:schemeClr>
                </a:solidFill>
              </a:rPr>
              <a:t>Firebase</a:t>
            </a:r>
            <a:endParaRPr lang="en-IN" sz="18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Mapping</a:t>
            </a:r>
          </a:p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• Web dashboard using </a:t>
            </a:r>
            <a:r>
              <a:rPr lang="en-IN" sz="1800" b="1" dirty="0">
                <a:solidFill>
                  <a:schemeClr val="bg2">
                    <a:lumMod val="10000"/>
                  </a:schemeClr>
                </a:solidFill>
              </a:rPr>
              <a:t>Leaflet Map</a:t>
            </a:r>
          </a:p>
          <a:p>
            <a:endParaRPr lang="en-IN" sz="1800" b="1" dirty="0">
              <a:solidFill>
                <a:schemeClr val="bg2">
                  <a:lumMod val="10000"/>
                </a:schemeClr>
              </a:solidFill>
            </a:endParaRPr>
          </a:p>
          <a:p>
            <a:endParaRPr lang="en-IN" sz="1800" dirty="0">
              <a:solidFill>
                <a:schemeClr val="bg2">
                  <a:lumMod val="10000"/>
                </a:schemeClr>
              </a:solidFill>
            </a:endParaRPr>
          </a:p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355600" algn="l"/>
              </a:tabLst>
            </a:pPr>
            <a:endParaRPr spc="-1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object 4"/>
          <p:cNvSpPr/>
          <p:nvPr/>
        </p:nvSpPr>
        <p:spPr>
          <a:xfrm>
            <a:off x="329768" y="252221"/>
            <a:ext cx="1252220" cy="812037"/>
          </a:xfrm>
          <a:custGeom>
            <a:avLst/>
            <a:gdLst/>
            <a:ahLst/>
            <a:cxnLst/>
            <a:rect l="l" t="t" r="r" b="b"/>
            <a:pathLst>
              <a:path w="1252220" h="807719">
                <a:moveTo>
                  <a:pt x="0" y="403732"/>
                </a:moveTo>
                <a:lnTo>
                  <a:pt x="10084" y="331151"/>
                </a:lnTo>
                <a:lnTo>
                  <a:pt x="39159" y="262842"/>
                </a:lnTo>
                <a:lnTo>
                  <a:pt x="60266" y="230646"/>
                </a:lnTo>
                <a:lnTo>
                  <a:pt x="85457" y="199945"/>
                </a:lnTo>
                <a:lnTo>
                  <a:pt x="114513" y="170881"/>
                </a:lnTo>
                <a:lnTo>
                  <a:pt x="147211" y="143597"/>
                </a:lnTo>
                <a:lnTo>
                  <a:pt x="183330" y="118237"/>
                </a:lnTo>
                <a:lnTo>
                  <a:pt x="222651" y="94940"/>
                </a:lnTo>
                <a:lnTo>
                  <a:pt x="264952" y="73852"/>
                </a:lnTo>
                <a:lnTo>
                  <a:pt x="310011" y="55113"/>
                </a:lnTo>
                <a:lnTo>
                  <a:pt x="357609" y="38866"/>
                </a:lnTo>
                <a:lnTo>
                  <a:pt x="407523" y="25254"/>
                </a:lnTo>
                <a:lnTo>
                  <a:pt x="459534" y="14419"/>
                </a:lnTo>
                <a:lnTo>
                  <a:pt x="513419" y="6503"/>
                </a:lnTo>
                <a:lnTo>
                  <a:pt x="568959" y="1649"/>
                </a:lnTo>
                <a:lnTo>
                  <a:pt x="625932" y="0"/>
                </a:lnTo>
                <a:lnTo>
                  <a:pt x="682901" y="1649"/>
                </a:lnTo>
                <a:lnTo>
                  <a:pt x="738438" y="6503"/>
                </a:lnTo>
                <a:lnTo>
                  <a:pt x="792323" y="14419"/>
                </a:lnTo>
                <a:lnTo>
                  <a:pt x="844333" y="25254"/>
                </a:lnTo>
                <a:lnTo>
                  <a:pt x="894248" y="38866"/>
                </a:lnTo>
                <a:lnTo>
                  <a:pt x="941847" y="55113"/>
                </a:lnTo>
                <a:lnTo>
                  <a:pt x="986909" y="73852"/>
                </a:lnTo>
                <a:lnTo>
                  <a:pt x="1029212" y="94940"/>
                </a:lnTo>
                <a:lnTo>
                  <a:pt x="1068536" y="118236"/>
                </a:lnTo>
                <a:lnTo>
                  <a:pt x="1104659" y="143597"/>
                </a:lnTo>
                <a:lnTo>
                  <a:pt x="1137361" y="170881"/>
                </a:lnTo>
                <a:lnTo>
                  <a:pt x="1166419" y="199945"/>
                </a:lnTo>
                <a:lnTo>
                  <a:pt x="1191614" y="230646"/>
                </a:lnTo>
                <a:lnTo>
                  <a:pt x="1212723" y="262842"/>
                </a:lnTo>
                <a:lnTo>
                  <a:pt x="1241803" y="331151"/>
                </a:lnTo>
                <a:lnTo>
                  <a:pt x="1251889" y="403732"/>
                </a:lnTo>
                <a:lnTo>
                  <a:pt x="1249331" y="440466"/>
                </a:lnTo>
                <a:lnTo>
                  <a:pt x="1229527" y="511020"/>
                </a:lnTo>
                <a:lnTo>
                  <a:pt x="1191614" y="576740"/>
                </a:lnTo>
                <a:lnTo>
                  <a:pt x="1166419" y="607431"/>
                </a:lnTo>
                <a:lnTo>
                  <a:pt x="1137361" y="636486"/>
                </a:lnTo>
                <a:lnTo>
                  <a:pt x="1104659" y="663762"/>
                </a:lnTo>
                <a:lnTo>
                  <a:pt x="1068536" y="689117"/>
                </a:lnTo>
                <a:lnTo>
                  <a:pt x="1029212" y="712409"/>
                </a:lnTo>
                <a:lnTo>
                  <a:pt x="986909" y="733494"/>
                </a:lnTo>
                <a:lnTo>
                  <a:pt x="941847" y="752230"/>
                </a:lnTo>
                <a:lnTo>
                  <a:pt x="894248" y="768475"/>
                </a:lnTo>
                <a:lnTo>
                  <a:pt x="844333" y="782086"/>
                </a:lnTo>
                <a:lnTo>
                  <a:pt x="792323" y="792920"/>
                </a:lnTo>
                <a:lnTo>
                  <a:pt x="738438" y="800835"/>
                </a:lnTo>
                <a:lnTo>
                  <a:pt x="682901" y="805689"/>
                </a:lnTo>
                <a:lnTo>
                  <a:pt x="625932" y="807338"/>
                </a:lnTo>
                <a:lnTo>
                  <a:pt x="568959" y="805689"/>
                </a:lnTo>
                <a:lnTo>
                  <a:pt x="513419" y="800835"/>
                </a:lnTo>
                <a:lnTo>
                  <a:pt x="459534" y="792920"/>
                </a:lnTo>
                <a:lnTo>
                  <a:pt x="407523" y="782086"/>
                </a:lnTo>
                <a:lnTo>
                  <a:pt x="357609" y="768475"/>
                </a:lnTo>
                <a:lnTo>
                  <a:pt x="310011" y="752230"/>
                </a:lnTo>
                <a:lnTo>
                  <a:pt x="264952" y="733494"/>
                </a:lnTo>
                <a:lnTo>
                  <a:pt x="222651" y="712409"/>
                </a:lnTo>
                <a:lnTo>
                  <a:pt x="183330" y="689117"/>
                </a:lnTo>
                <a:lnTo>
                  <a:pt x="147211" y="663762"/>
                </a:lnTo>
                <a:lnTo>
                  <a:pt x="114513" y="636486"/>
                </a:lnTo>
                <a:lnTo>
                  <a:pt x="85457" y="607431"/>
                </a:lnTo>
                <a:lnTo>
                  <a:pt x="60266" y="576740"/>
                </a:lnTo>
                <a:lnTo>
                  <a:pt x="39159" y="544555"/>
                </a:lnTo>
                <a:lnTo>
                  <a:pt x="10084" y="476276"/>
                </a:lnTo>
                <a:lnTo>
                  <a:pt x="0" y="403732"/>
                </a:lnTo>
                <a:close/>
              </a:path>
            </a:pathLst>
          </a:custGeom>
          <a:ln w="25400">
            <a:solidFill>
              <a:srgbClr val="8063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78180" y="286384"/>
            <a:ext cx="554990" cy="777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710"/>
              </a:lnSpc>
            </a:pPr>
            <a:r>
              <a:rPr sz="1800" spc="-20" dirty="0">
                <a:latin typeface="Calibri"/>
                <a:cs typeface="Calibri"/>
              </a:rPr>
              <a:t>Your</a:t>
            </a:r>
            <a:endParaRPr sz="18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Team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800" spc="-20" dirty="0">
                <a:latin typeface="Calibri"/>
                <a:cs typeface="Calibri"/>
              </a:rPr>
              <a:t>Name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4957" y="230810"/>
            <a:ext cx="2362835" cy="890778"/>
          </a:xfrm>
          <a:custGeom>
            <a:avLst/>
            <a:gdLst/>
            <a:ahLst/>
            <a:cxnLst/>
            <a:rect l="l" t="t" r="r" b="b"/>
            <a:pathLst>
              <a:path w="2362835" h="807719">
                <a:moveTo>
                  <a:pt x="2362581" y="0"/>
                </a:moveTo>
                <a:lnTo>
                  <a:pt x="0" y="0"/>
                </a:lnTo>
                <a:lnTo>
                  <a:pt x="0" y="807338"/>
                </a:lnTo>
                <a:lnTo>
                  <a:pt x="2362581" y="807338"/>
                </a:lnTo>
                <a:lnTo>
                  <a:pt x="236258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29768" y="252222"/>
            <a:ext cx="2362835" cy="622606"/>
          </a:xfrm>
          <a:prstGeom prst="rect">
            <a:avLst/>
          </a:prstGeom>
          <a:ln w="25400">
            <a:solidFill>
              <a:srgbClr val="8063A1"/>
            </a:solidFill>
          </a:ln>
        </p:spPr>
        <p:txBody>
          <a:bodyPr vert="horz" wrap="square" lIns="0" tIns="250825" rIns="0" bIns="0" rtlCol="0">
            <a:spAutoFit/>
          </a:bodyPr>
          <a:lstStyle/>
          <a:p>
            <a:pPr marL="394970" algn="l">
              <a:lnSpc>
                <a:spcPct val="100000"/>
              </a:lnSpc>
              <a:spcBef>
                <a:spcPts val="1975"/>
              </a:spcBef>
            </a:pPr>
            <a:r>
              <a:rPr lang="en-US" spc="-20" dirty="0">
                <a:latin typeface="Calibri"/>
                <a:cs typeface="Calibri"/>
              </a:rPr>
              <a:t>  </a:t>
            </a:r>
            <a:r>
              <a:rPr lang="en-US" sz="2400" b="1" spc="-20" dirty="0" err="1">
                <a:latin typeface="Calibri"/>
                <a:cs typeface="Calibri"/>
              </a:rPr>
              <a:t>ResQNodes</a:t>
            </a:r>
            <a:endParaRPr sz="2400" b="1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4926" y="255825"/>
            <a:ext cx="2552117" cy="48730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7D95E2-80ED-86F8-E875-FB38CCF51AD4}"/>
              </a:ext>
            </a:extLst>
          </p:cNvPr>
          <p:cNvSpPr txBox="1"/>
          <p:nvPr/>
        </p:nvSpPr>
        <p:spPr>
          <a:xfrm>
            <a:off x="5181600" y="1397674"/>
            <a:ext cx="49438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Implementation Steps: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Build wristband prototype</a:t>
            </a:r>
          </a:p>
          <a:p>
            <a:r>
              <a:rPr lang="en-IN" dirty="0"/>
              <a:t>2. Implement BLE communication</a:t>
            </a:r>
          </a:p>
          <a:p>
            <a:r>
              <a:rPr lang="en-IN" dirty="0"/>
              <a:t>3. Develop mobile application</a:t>
            </a:r>
          </a:p>
          <a:p>
            <a:r>
              <a:rPr lang="en-IN" dirty="0"/>
              <a:t>4. Setup receiver gateways</a:t>
            </a:r>
          </a:p>
          <a:p>
            <a:r>
              <a:rPr lang="en-IN" dirty="0"/>
              <a:t>5. Create dashboard for security monitoring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862E15-EBFE-FDE5-3176-4E2AB7407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024" y="3264160"/>
            <a:ext cx="1493393" cy="219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3CE3289-BE0F-6525-E3FE-42681FF8CF3A}"/>
              </a:ext>
            </a:extLst>
          </p:cNvPr>
          <p:cNvSpPr txBox="1"/>
          <p:nvPr/>
        </p:nvSpPr>
        <p:spPr>
          <a:xfrm>
            <a:off x="5225859" y="5503606"/>
            <a:ext cx="133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chemeClr val="bg2">
                    <a:lumMod val="10000"/>
                  </a:schemeClr>
                </a:solidFill>
              </a:rPr>
              <a:t>ESP32-C3</a:t>
            </a:r>
            <a:endParaRPr lang="en-IN" dirty="0"/>
          </a:p>
        </p:txBody>
      </p:sp>
      <p:sp>
        <p:nvSpPr>
          <p:cNvPr id="22" name="AutoShape 4">
            <a:extLst>
              <a:ext uri="{FF2B5EF4-FFF2-40B4-BE49-F238E27FC236}">
                <a16:creationId xmlns:a16="http://schemas.microsoft.com/office/drawing/2014/main" id="{C52BDBDD-F7ED-01DF-9AFE-E580604D61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80249" y="113249"/>
            <a:ext cx="3468151" cy="346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BA0B87D-6A6B-8241-5590-94CA324EC7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3428999"/>
            <a:ext cx="3090799" cy="193512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AF31936-3369-894A-A445-A1042E611411}"/>
              </a:ext>
            </a:extLst>
          </p:cNvPr>
          <p:cNvSpPr txBox="1"/>
          <p:nvPr/>
        </p:nvSpPr>
        <p:spPr>
          <a:xfrm>
            <a:off x="8610600" y="547509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Receiver Module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FEASIBILITY</a:t>
            </a:r>
            <a:r>
              <a:rPr spc="-34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VIABILITY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6765" y="1143000"/>
            <a:ext cx="11277600" cy="5041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b="1" dirty="0"/>
              <a:t>Feasibility</a:t>
            </a:r>
          </a:p>
          <a:p>
            <a:r>
              <a:rPr lang="en-US" dirty="0"/>
              <a:t>The idea is practical because it uses </a:t>
            </a:r>
            <a:r>
              <a:rPr lang="en-US" b="1" dirty="0"/>
              <a:t>simple and affordable hardware components</a:t>
            </a:r>
            <a:r>
              <a:rPr lang="en-US" dirty="0"/>
              <a:t> that are already widely available.</a:t>
            </a:r>
          </a:p>
          <a:p>
            <a:r>
              <a:rPr lang="en-US" dirty="0"/>
              <a:t>The prototype can be built using </a:t>
            </a:r>
            <a:r>
              <a:rPr lang="en-US" b="1" dirty="0"/>
              <a:t>ESP32 boards, buttons, and batteries</a:t>
            </a:r>
            <a:r>
              <a:rPr lang="en-US" dirty="0"/>
              <a:t>, which makes it cost-effective.</a:t>
            </a:r>
          </a:p>
          <a:p>
            <a:endParaRPr lang="en-US" dirty="0"/>
          </a:p>
          <a:p>
            <a:r>
              <a:rPr lang="en-US" b="1" dirty="0"/>
              <a:t>Possible Challenges</a:t>
            </a:r>
          </a:p>
          <a:p>
            <a:r>
              <a:rPr lang="en-US" dirty="0"/>
              <a:t>• Wireless signals may get weaker in very dense crowds</a:t>
            </a:r>
            <a:br>
              <a:rPr lang="en-US" dirty="0"/>
            </a:br>
            <a:r>
              <a:rPr lang="en-US" dirty="0"/>
              <a:t>• Battery life of the wristband</a:t>
            </a:r>
            <a:br>
              <a:rPr lang="en-US" dirty="0"/>
            </a:br>
            <a:r>
              <a:rPr lang="en-US" dirty="0"/>
              <a:t>• Maintaining stable connections between devices</a:t>
            </a:r>
          </a:p>
          <a:p>
            <a:endParaRPr lang="en-US" dirty="0"/>
          </a:p>
          <a:p>
            <a:r>
              <a:rPr lang="en-US" b="1" dirty="0"/>
              <a:t>Possible Solutions</a:t>
            </a:r>
          </a:p>
          <a:p>
            <a:r>
              <a:rPr lang="en-US" dirty="0"/>
              <a:t>• Using </a:t>
            </a:r>
            <a:r>
              <a:rPr lang="en-US" b="1" dirty="0"/>
              <a:t>BLE mesh networking</a:t>
            </a:r>
            <a:r>
              <a:rPr lang="en-US" dirty="0"/>
              <a:t> so signals can hop through nearby devices</a:t>
            </a:r>
            <a:br>
              <a:rPr lang="en-US" dirty="0"/>
            </a:br>
            <a:r>
              <a:rPr lang="en-US" dirty="0"/>
              <a:t>• Using low-power modes to save battery</a:t>
            </a:r>
            <a:br>
              <a:rPr lang="en-US" dirty="0"/>
            </a:br>
            <a:r>
              <a:rPr lang="en-US" dirty="0"/>
              <a:t>• Installing multiple receivers across the event area</a:t>
            </a:r>
          </a:p>
          <a:p>
            <a:endParaRPr lang="en-US" dirty="0"/>
          </a:p>
          <a:p>
            <a:r>
              <a:rPr lang="en-US" b="1" dirty="0"/>
              <a:t>Scalability</a:t>
            </a:r>
          </a:p>
          <a:p>
            <a:r>
              <a:rPr lang="en-US" dirty="0"/>
              <a:t>This system can support </a:t>
            </a:r>
            <a:r>
              <a:rPr lang="en-US" b="1" dirty="0"/>
              <a:t>large events with thousands of participants</a:t>
            </a:r>
            <a:r>
              <a:rPr lang="en-US" dirty="0"/>
              <a:t> by adding more receivers.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endParaRPr sz="200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18879" y="163880"/>
            <a:ext cx="2753359" cy="662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73852B57-0D48-67DB-ADDF-7747D41478AB}"/>
              </a:ext>
            </a:extLst>
          </p:cNvPr>
          <p:cNvSpPr txBox="1"/>
          <p:nvPr/>
        </p:nvSpPr>
        <p:spPr>
          <a:xfrm>
            <a:off x="300228" y="315595"/>
            <a:ext cx="2362835" cy="622606"/>
          </a:xfrm>
          <a:prstGeom prst="rect">
            <a:avLst/>
          </a:prstGeom>
          <a:ln w="25400">
            <a:solidFill>
              <a:srgbClr val="8063A1"/>
            </a:solidFill>
          </a:ln>
        </p:spPr>
        <p:txBody>
          <a:bodyPr vert="horz" wrap="square" lIns="0" tIns="250825" rIns="0" bIns="0" rtlCol="0">
            <a:spAutoFit/>
          </a:bodyPr>
          <a:lstStyle/>
          <a:p>
            <a:pPr marL="394970" algn="l">
              <a:lnSpc>
                <a:spcPct val="100000"/>
              </a:lnSpc>
              <a:spcBef>
                <a:spcPts val="1975"/>
              </a:spcBef>
            </a:pPr>
            <a:r>
              <a:rPr lang="en-US" spc="-20" dirty="0">
                <a:latin typeface="Calibri"/>
                <a:cs typeface="Calibri"/>
              </a:rPr>
              <a:t>  </a:t>
            </a:r>
            <a:r>
              <a:rPr lang="en-US" sz="2400" b="1" spc="-20" dirty="0" err="1">
                <a:latin typeface="Calibri"/>
                <a:cs typeface="Calibri"/>
              </a:rPr>
              <a:t>ResQNodes</a:t>
            </a:r>
            <a:endParaRPr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9573" y="367029"/>
            <a:ext cx="52920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IMPACT</a:t>
            </a:r>
            <a:r>
              <a:rPr spc="-254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453528"/>
            <a:ext cx="5105400" cy="50597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000" b="1" dirty="0"/>
              <a:t>Target Users</a:t>
            </a:r>
          </a:p>
          <a:p>
            <a:r>
              <a:rPr lang="en-US" sz="2000" dirty="0"/>
              <a:t>• Concert organizers</a:t>
            </a:r>
            <a:br>
              <a:rPr lang="en-US" sz="2000" dirty="0"/>
            </a:br>
            <a:r>
              <a:rPr lang="en-US" sz="2000" dirty="0"/>
              <a:t>• Festival event managers</a:t>
            </a:r>
            <a:br>
              <a:rPr lang="en-US" sz="2000" dirty="0"/>
            </a:br>
            <a:r>
              <a:rPr lang="en-US" sz="2000" dirty="0"/>
              <a:t>• Stadium security teams</a:t>
            </a:r>
            <a:br>
              <a:rPr lang="en-US" sz="2000" dirty="0"/>
            </a:br>
            <a:r>
              <a:rPr lang="en-US" sz="2000" dirty="0"/>
              <a:t>• Large public gatherings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Social Impact</a:t>
            </a:r>
          </a:p>
          <a:p>
            <a:r>
              <a:rPr lang="en-US" sz="2000" dirty="0"/>
              <a:t>This system can help improve safety during crowded events.</a:t>
            </a:r>
          </a:p>
          <a:p>
            <a:r>
              <a:rPr lang="en-US" sz="2000" dirty="0"/>
              <a:t>If someone is lost, injured, or in danger, security teams can quickly locate them and provide help.</a:t>
            </a:r>
          </a:p>
          <a:p>
            <a:br>
              <a:rPr lang="en-US" sz="2000" dirty="0"/>
            </a:br>
            <a:endParaRPr lang="en-US" sz="2000" dirty="0"/>
          </a:p>
          <a:p>
            <a:pPr marL="355600" marR="5080" indent="-342900">
              <a:lnSpc>
                <a:spcPct val="100000"/>
              </a:lnSpc>
              <a:spcBef>
                <a:spcPts val="5"/>
              </a:spcBef>
              <a:buChar char="•"/>
              <a:tabLst>
                <a:tab pos="355600" algn="l"/>
                <a:tab pos="2202815" algn="l"/>
                <a:tab pos="3059430" algn="l"/>
                <a:tab pos="4114165" algn="l"/>
                <a:tab pos="5903595" algn="l"/>
              </a:tabLst>
            </a:pPr>
            <a:endParaRPr lang="en-IN" sz="2800" dirty="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4926" y="255825"/>
            <a:ext cx="2552117" cy="48730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11608D95-7D82-01CD-5174-B078FC7022CC}"/>
              </a:ext>
            </a:extLst>
          </p:cNvPr>
          <p:cNvSpPr txBox="1"/>
          <p:nvPr/>
        </p:nvSpPr>
        <p:spPr>
          <a:xfrm>
            <a:off x="413475" y="367029"/>
            <a:ext cx="2362835" cy="622606"/>
          </a:xfrm>
          <a:prstGeom prst="rect">
            <a:avLst/>
          </a:prstGeom>
          <a:ln w="25400">
            <a:solidFill>
              <a:srgbClr val="8063A1"/>
            </a:solidFill>
          </a:ln>
        </p:spPr>
        <p:txBody>
          <a:bodyPr vert="horz" wrap="square" lIns="0" tIns="250825" rIns="0" bIns="0" rtlCol="0">
            <a:spAutoFit/>
          </a:bodyPr>
          <a:lstStyle/>
          <a:p>
            <a:pPr marL="394970" algn="l">
              <a:lnSpc>
                <a:spcPct val="100000"/>
              </a:lnSpc>
              <a:spcBef>
                <a:spcPts val="1975"/>
              </a:spcBef>
            </a:pPr>
            <a:r>
              <a:rPr lang="en-US" spc="-20" dirty="0">
                <a:latin typeface="Calibri"/>
                <a:cs typeface="Calibri"/>
              </a:rPr>
              <a:t>  </a:t>
            </a:r>
            <a:r>
              <a:rPr lang="en-US" sz="2400" b="1" spc="-20" dirty="0" err="1">
                <a:latin typeface="Calibri"/>
                <a:cs typeface="Calibri"/>
              </a:rPr>
              <a:t>ResQNodes</a:t>
            </a:r>
            <a:endParaRPr sz="2400" b="1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C465B-3828-23F1-844B-BBC4B6A130DB}"/>
              </a:ext>
            </a:extLst>
          </p:cNvPr>
          <p:cNvSpPr txBox="1"/>
          <p:nvPr/>
        </p:nvSpPr>
        <p:spPr>
          <a:xfrm>
            <a:off x="6250114" y="1342765"/>
            <a:ext cx="5446140" cy="5121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Economic Benefits</a:t>
            </a:r>
          </a:p>
          <a:p>
            <a:r>
              <a:rPr lang="en-US" sz="2000" dirty="0"/>
              <a:t>• Helps organizers manage safety more efficiently</a:t>
            </a:r>
            <a:br>
              <a:rPr lang="en-US" sz="2000" dirty="0"/>
            </a:br>
            <a:r>
              <a:rPr lang="en-US" sz="2000" dirty="0"/>
              <a:t>• Reduces the risk of serious incidents during events</a:t>
            </a:r>
            <a:br>
              <a:rPr lang="en-US" sz="2000" dirty="0"/>
            </a:br>
            <a:r>
              <a:rPr lang="en-US" sz="2000" dirty="0"/>
              <a:t>• Provides a low-cost safety solution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Possible Applications</a:t>
            </a:r>
          </a:p>
          <a:p>
            <a:r>
              <a:rPr lang="en-US" sz="2000" dirty="0"/>
              <a:t>• Music concerts</a:t>
            </a:r>
            <a:br>
              <a:rPr lang="en-US" sz="2000" dirty="0"/>
            </a:br>
            <a:r>
              <a:rPr lang="en-US" sz="2000" dirty="0"/>
              <a:t>• Marathons</a:t>
            </a:r>
            <a:br>
              <a:rPr lang="en-US" sz="2000" dirty="0"/>
            </a:br>
            <a:r>
              <a:rPr lang="en-US" sz="2000" dirty="0"/>
              <a:t>• Religious gatherings</a:t>
            </a:r>
            <a:br>
              <a:rPr lang="en-US" sz="2000" dirty="0"/>
            </a:br>
            <a:r>
              <a:rPr lang="en-US" sz="2000" dirty="0"/>
              <a:t>• College festivals</a:t>
            </a:r>
            <a:br>
              <a:rPr lang="en-US" sz="2000" dirty="0"/>
            </a:br>
            <a:r>
              <a:rPr lang="en-US" sz="2000" dirty="0"/>
              <a:t>• Sports stadiums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endParaRPr lang="en-IN" sz="2800" spc="-10" dirty="0">
              <a:latin typeface="Arial MT"/>
              <a:cs typeface="Arial MT"/>
            </a:endParaRPr>
          </a:p>
          <a:p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C8EFBCC-49AC-B9C5-3A5A-D286D13E264B}"/>
              </a:ext>
            </a:extLst>
          </p:cNvPr>
          <p:cNvCxnSpPr>
            <a:cxnSpLocks/>
          </p:cNvCxnSpPr>
          <p:nvPr/>
        </p:nvCxnSpPr>
        <p:spPr>
          <a:xfrm>
            <a:off x="6019800" y="1471816"/>
            <a:ext cx="0" cy="42431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126" y="385394"/>
            <a:ext cx="619125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55545" algn="l"/>
              </a:tabLst>
            </a:pPr>
            <a:r>
              <a:rPr sz="3200" spc="-10" dirty="0"/>
              <a:t>RESEARCH</a:t>
            </a:r>
            <a:r>
              <a:rPr sz="3200" dirty="0"/>
              <a:t>	AND</a:t>
            </a:r>
            <a:r>
              <a:rPr sz="3200" spc="-5" dirty="0"/>
              <a:t> </a:t>
            </a:r>
            <a:r>
              <a:rPr sz="3200" spc="-10" dirty="0"/>
              <a:t>REFERENCES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688784" y="1524000"/>
            <a:ext cx="11122660" cy="432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IN" sz="1400" b="1" dirty="0"/>
              <a:t>1. Crowd Disaster Monitoring using Wireless Sensor Networks</a:t>
            </a:r>
          </a:p>
          <a:p>
            <a:r>
              <a:rPr lang="en-IN" sz="1400" dirty="0"/>
              <a:t>M. V. Ramesh, S. Anjitha, P. Rekha.</a:t>
            </a:r>
            <a:br>
              <a:rPr lang="en-IN" sz="1400" dirty="0"/>
            </a:br>
            <a:r>
              <a:rPr lang="en-IN" sz="1400" dirty="0">
                <a:hlinkClick r:id="rId2"/>
              </a:rPr>
              <a:t>https://www.researchgate.net/publication/259162446_A_Novel_Wireless_Sensor_Network_Architecture_for_Crowd_Disaster_Mitigation</a:t>
            </a:r>
            <a:endParaRPr lang="en-IN" sz="1400" dirty="0"/>
          </a:p>
          <a:p>
            <a:r>
              <a:rPr lang="en-IN" sz="1400" dirty="0"/>
              <a:t> </a:t>
            </a:r>
          </a:p>
          <a:p>
            <a:r>
              <a:rPr lang="en-IN" sz="1400" b="1" dirty="0"/>
              <a:t>2. BLE Indoor Positioning System</a:t>
            </a:r>
          </a:p>
          <a:p>
            <a:r>
              <a:rPr lang="en-IN" sz="1400" dirty="0"/>
              <a:t>Song Chai, </a:t>
            </a:r>
            <a:r>
              <a:rPr lang="en-IN" sz="1400" dirty="0" err="1"/>
              <a:t>Renbo</a:t>
            </a:r>
            <a:r>
              <a:rPr lang="en-IN" sz="1400" dirty="0"/>
              <a:t> An, Zhengzhong Du</a:t>
            </a:r>
            <a:br>
              <a:rPr lang="en-IN" sz="1400" dirty="0"/>
            </a:br>
            <a:r>
              <a:rPr lang="en-IN" sz="1400" dirty="0">
                <a:hlinkClick r:id="rId3"/>
              </a:rPr>
              <a:t>https://www.researchgate.net/publication/306325749_An_Indoor_Positioning_Algorithm_using_Bluetooth_Low_Energy_RSSI</a:t>
            </a:r>
            <a:endParaRPr lang="en-IN" sz="1400" dirty="0"/>
          </a:p>
          <a:p>
            <a:r>
              <a:rPr lang="en-IN" sz="1400" dirty="0"/>
              <a:t> </a:t>
            </a:r>
          </a:p>
          <a:p>
            <a:r>
              <a:rPr lang="en-IN" sz="1400" b="1" dirty="0"/>
              <a:t>3. Bluetooth Low Energy Indoor Positioning System</a:t>
            </a:r>
          </a:p>
          <a:p>
            <a:r>
              <a:rPr lang="en-IN" sz="1400" dirty="0"/>
              <a:t>V. C. Paterna et al.</a:t>
            </a:r>
            <a:br>
              <a:rPr lang="en-IN" sz="1400" dirty="0"/>
            </a:br>
            <a:r>
              <a:rPr lang="en-IN" sz="1400" dirty="0">
                <a:hlinkClick r:id="rId4"/>
              </a:rPr>
              <a:t>https://pmc.ncbi.nlm.nih.gov/articles/PMC5750706/</a:t>
            </a:r>
            <a:endParaRPr lang="en-IN" sz="1400" dirty="0"/>
          </a:p>
          <a:p>
            <a:r>
              <a:rPr lang="en-IN" sz="1400" dirty="0"/>
              <a:t> </a:t>
            </a:r>
          </a:p>
          <a:p>
            <a:r>
              <a:rPr lang="en-IN" sz="1400" b="1" dirty="0"/>
              <a:t>4. IoT and Wireless Sensor Networks for Disaster Management</a:t>
            </a:r>
          </a:p>
          <a:p>
            <a:r>
              <a:rPr lang="en-IN" sz="1400" dirty="0"/>
              <a:t>Ahsan Adeel et al.</a:t>
            </a:r>
            <a:br>
              <a:rPr lang="en-IN" sz="1400" dirty="0"/>
            </a:br>
            <a:r>
              <a:rPr lang="en-IN" sz="1400" dirty="0">
                <a:hlinkClick r:id="rId5"/>
              </a:rPr>
              <a:t>https://arxiv.org/pdf/1909.10353</a:t>
            </a:r>
            <a:endParaRPr lang="en-IN" sz="1400" dirty="0"/>
          </a:p>
          <a:p>
            <a:endParaRPr lang="en-IN" sz="1400" dirty="0"/>
          </a:p>
          <a:p>
            <a:r>
              <a:rPr lang="en-IN" sz="1400" b="1" dirty="0"/>
              <a:t>5. BLE Indoor Positioning using RSSI</a:t>
            </a:r>
          </a:p>
          <a:p>
            <a:r>
              <a:rPr lang="en-IN" sz="1400" dirty="0"/>
              <a:t>Jeremy R. et al.</a:t>
            </a:r>
            <a:br>
              <a:rPr lang="en-IN" sz="1400" dirty="0"/>
            </a:br>
            <a:r>
              <a:rPr lang="en-IN" sz="1400" dirty="0">
                <a:hlinkClick r:id="rId6"/>
              </a:rPr>
              <a:t>https://www.mdpi.com/2076-3417/11/13/6107</a:t>
            </a:r>
            <a:endParaRPr lang="en-IN" sz="1400" dirty="0"/>
          </a:p>
          <a:p>
            <a:endParaRPr lang="en-IN" sz="1400" dirty="0"/>
          </a:p>
        </p:txBody>
      </p:sp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14926" y="255825"/>
            <a:ext cx="2552117" cy="48730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40"/>
              </a:lnSpc>
            </a:pPr>
            <a:r>
              <a:rPr dirty="0"/>
              <a:t>@JNN</a:t>
            </a:r>
            <a:r>
              <a:rPr spc="-10" dirty="0"/>
              <a:t> </a:t>
            </a:r>
            <a:r>
              <a:rPr spc="-25" dirty="0"/>
              <a:t>INNOVATHON</a:t>
            </a:r>
            <a:r>
              <a:rPr spc="-5" dirty="0"/>
              <a:t> </a:t>
            </a:r>
            <a:r>
              <a:rPr dirty="0"/>
              <a:t>IDEA</a:t>
            </a:r>
            <a:r>
              <a:rPr spc="-10" dirty="0"/>
              <a:t> SUBMISSSION</a:t>
            </a:r>
          </a:p>
          <a:p>
            <a:pPr marL="635" algn="ctr">
              <a:lnSpc>
                <a:spcPct val="100000"/>
              </a:lnSpc>
            </a:pPr>
            <a:r>
              <a:rPr spc="-10" dirty="0"/>
              <a:t>Template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1C61EDE5-387B-8DFE-1183-BC68CC381DF5}"/>
              </a:ext>
            </a:extLst>
          </p:cNvPr>
          <p:cNvSpPr txBox="1"/>
          <p:nvPr/>
        </p:nvSpPr>
        <p:spPr>
          <a:xfrm>
            <a:off x="304800" y="385394"/>
            <a:ext cx="2362835" cy="622606"/>
          </a:xfrm>
          <a:prstGeom prst="rect">
            <a:avLst/>
          </a:prstGeom>
          <a:ln w="25400">
            <a:solidFill>
              <a:srgbClr val="8063A1"/>
            </a:solidFill>
          </a:ln>
        </p:spPr>
        <p:txBody>
          <a:bodyPr vert="horz" wrap="square" lIns="0" tIns="250825" rIns="0" bIns="0" rtlCol="0">
            <a:spAutoFit/>
          </a:bodyPr>
          <a:lstStyle/>
          <a:p>
            <a:pPr marL="394970" algn="l">
              <a:lnSpc>
                <a:spcPct val="100000"/>
              </a:lnSpc>
              <a:spcBef>
                <a:spcPts val="1975"/>
              </a:spcBef>
            </a:pPr>
            <a:r>
              <a:rPr lang="en-US" spc="-20" dirty="0">
                <a:latin typeface="Calibri"/>
                <a:cs typeface="Calibri"/>
              </a:rPr>
              <a:t>  </a:t>
            </a:r>
            <a:r>
              <a:rPr lang="en-US" sz="2400" b="1" spc="-20" dirty="0" err="1">
                <a:latin typeface="Calibri"/>
                <a:cs typeface="Calibri"/>
              </a:rPr>
              <a:t>ResQNodes</a:t>
            </a:r>
            <a:endParaRPr sz="24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697</Words>
  <Application>Microsoft Office PowerPoint</Application>
  <PresentationFormat>Widescreen</PresentationFormat>
  <Paragraphs>125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Arial MT</vt:lpstr>
      <vt:lpstr>Calibri</vt:lpstr>
      <vt:lpstr>Times New Roman</vt:lpstr>
      <vt:lpstr>Wingdings</vt:lpstr>
      <vt:lpstr>Office Theme</vt:lpstr>
      <vt:lpstr>J.N.N INNOVOTHAN 2K26</vt:lpstr>
      <vt:lpstr>CrowdShield</vt:lpstr>
      <vt:lpstr>TECHNICAL APPROACH</vt:lpstr>
      <vt:lpstr>FEASIBILITY AND VIABILITY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Ramamohan N</cp:lastModifiedBy>
  <cp:revision>5</cp:revision>
  <dcterms:created xsi:type="dcterms:W3CDTF">2026-03-07T16:21:46Z</dcterms:created>
  <dcterms:modified xsi:type="dcterms:W3CDTF">2026-03-09T17:14:43Z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2026-02-02T00:00:00Z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2026-03-07T00:00:00Z</vt:filetime>
  </property>
  <property fmtid="{D5CDD505-2E9C-101B-9397-08002B2CF9AE}" pid="5" name="Producer">
    <vt:lpwstr>Microsoft® PowerPoint® 2021</vt:lpwstr>
  </property>
</Properties>
</file>